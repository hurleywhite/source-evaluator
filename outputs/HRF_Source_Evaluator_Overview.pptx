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340"/>
              </a:solidFill>
              <a:effectLst/>
            </c:spPr>
          </c:dPt>
          <c:dPt>
            <c:idx val="1"/>
            <c:bubble3D val="0"/>
            <c:spPr>
              <a:solidFill>
                <a:srgbClr val="2D8659"/>
              </a:solidFill>
              <a:effectLst/>
            </c:spPr>
          </c:dPt>
          <c:dPt>
            <c:idx val="2"/>
            <c:bubble3D val="0"/>
            <c:spPr>
              <a:solidFill>
                <a:srgbClr val="8B6914"/>
              </a:solidFill>
              <a:effectLst/>
            </c:spPr>
          </c:dPt>
          <c:dPt>
            <c:idx val="3"/>
            <c:bubble3D val="0"/>
            <c:spPr>
              <a:solidFill>
                <a:srgbClr val="C4880B"/>
              </a:solidFill>
              <a:effectLst/>
            </c:spPr>
          </c:dPt>
          <c:dPt>
            <c:idx val="4"/>
            <c:bubble3D val="0"/>
            <c:spPr>
              <a:solidFill>
                <a:srgbClr val="3B7CB8"/>
              </a:solidFill>
              <a:effectLst/>
            </c:spPr>
          </c:dPt>
          <c:dPt>
            <c:idx val="5"/>
            <c:bubble3D val="0"/>
            <c:spPr>
              <a:solidFill>
                <a:srgbClr val="B83B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Preferred Evidence</c:v>
                </c:pt>
                <c:pt idx="1">
                  <c:v>Usable w/ Safeguards</c:v>
                </c:pt>
                <c:pt idx="2">
                  <c:v>Manual Retrieval</c:v>
                </c:pt>
                <c:pt idx="3">
                  <c:v>Narrative Only</c:v>
                </c:pt>
                <c:pt idx="4">
                  <c:v>Context Only</c:v>
                </c:pt>
                <c:pt idx="5">
                  <c:v>Do Not Use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35</c:v>
                </c:pt>
                <c:pt idx="1">
                  <c:v>17</c:v>
                </c:pt>
                <c:pt idx="2">
                  <c:v>25</c:v>
                </c:pt>
                <c:pt idx="3">
                  <c:v>11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A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Evaluator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Source Credibility Assessment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 Rights Documentation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Rights Foundation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58521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7132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rights documentation demands rigorous source evaluation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768096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93392"/>
            <a:ext cx="54864" cy="58521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93392"/>
            <a:ext cx="7132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must evaluate dozens or hundreds of sources per report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06624"/>
            <a:ext cx="768096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06624"/>
            <a:ext cx="54864" cy="58521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706624"/>
            <a:ext cx="7132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evaluation is time-consuming and inconsistent across teams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19856"/>
            <a:ext cx="768096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19856"/>
            <a:ext cx="54864" cy="58521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419856"/>
            <a:ext cx="7132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claims require the highest evidentiary standards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133088"/>
            <a:ext cx="768096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133088"/>
            <a:ext cx="54864" cy="58521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133088"/>
            <a:ext cx="7132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standardized, auditable process exists today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Source Evaluator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this source be used?"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591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4028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sources against a 10-criterion framework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4495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2608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actionable use-permission recommendations — not abstract scores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36118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3075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61188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determination is traceable and defensible with a full audit trail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31520" y="42976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29768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~100 sources in ~10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46304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377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list of cited URLs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(works cited file)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6060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1188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11880" y="1371600"/>
            <a:ext cx="246888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4" name="Shape 10"/>
          <p:cNvSpPr/>
          <p:nvPr/>
        </p:nvSpPr>
        <p:spPr>
          <a:xfrm>
            <a:off x="4480560" y="146304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1"/>
          <p:cNvSpPr/>
          <p:nvPr/>
        </p:nvSpPr>
        <p:spPr>
          <a:xfrm>
            <a:off x="44805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79476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fetches content, analyzes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10 criteria, applies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 edge cases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60604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9224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1371600"/>
            <a:ext cx="246888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2" name="Shape 16"/>
          <p:cNvSpPr/>
          <p:nvPr/>
        </p:nvSpPr>
        <p:spPr>
          <a:xfrm>
            <a:off x="7360920" y="146304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17"/>
          <p:cNvSpPr/>
          <p:nvPr/>
        </p:nvSpPr>
        <p:spPr>
          <a:xfrm>
            <a:off x="73609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3774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7512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67512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report classifying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with evidence-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reasoning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Actionable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1051560"/>
          </a:xfrm>
          <a:prstGeom prst="rect">
            <a:avLst/>
          </a:prstGeom>
          <a:solidFill>
            <a:srgbClr val="1B734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for factual claims with confidence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1051560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with Safeguards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with supporting 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23160"/>
            <a:ext cx="73152" cy="1051560"/>
          </a:xfrm>
          <a:prstGeom prst="rect">
            <a:avLst/>
          </a:prstGeom>
          <a:solidFill>
            <a:srgbClr val="3B7CB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background, not factual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423160"/>
            <a:ext cx="73152" cy="1051560"/>
          </a:xfrm>
          <a:prstGeom prst="rect">
            <a:avLst/>
          </a:prstGeom>
          <a:solidFill>
            <a:srgbClr val="C488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88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Only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as "X claims..." (state media, self-interest)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57600"/>
            <a:ext cx="73152" cy="105156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Retrieval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must access directly (paywalled)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73152" cy="1051560"/>
          </a:xfrm>
          <a:prstGeom prst="rect">
            <a:avLst/>
          </a:prstGeom>
          <a:solidFill>
            <a:srgbClr val="B8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Satire, forums, unreliable (excluded)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≠ Credibility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paywalled NYT article isn't unreliable — it just needs manual retrieval. The tool separates fetchability from credibility.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source can be valid for narrative use but not for factual claims. Context matters.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301752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461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0584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 systematic abuse (genocide, crimes against humanity) trigger additional evidence gates automatically.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 Nuance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2920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distinguishes NGOs, state media, advocacy orgs, think tanks, and news outlets.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100-Source Evaluation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371600"/>
            <a:ext cx="3474720" cy="3200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Text 3"/>
          <p:cNvSpPr/>
          <p:nvPr/>
        </p:nvSpPr>
        <p:spPr>
          <a:xfrm>
            <a:off x="55778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778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57784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sources suitable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use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7784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require manual retrieval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(paywalls, bot-blocks)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excluded as unreliable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(satire, forums)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350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508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traces to specific evidence in the source text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938528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938528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22585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100 sources in approximately 10 minutes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2688336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688336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346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0083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 export with evidence quotes for every determination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438144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438144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844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483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37581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with heuristics or enhanced with AI review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4187952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187952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3425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Detection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08760" y="45079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state media, satire, and self-interest sources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about what this tool cannot 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" cy="713232"/>
          </a:xfrm>
          <a:prstGeom prst="rect">
            <a:avLst/>
          </a:prstGeom>
          <a:solidFill>
            <a:srgbClr val="C4880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600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Barriers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bypass paywalls or login walls (~25% of sources need manual retrieval)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54864" cy="713232"/>
          </a:xfrm>
          <a:prstGeom prst="rect">
            <a:avLst/>
          </a:prstGeom>
          <a:solidFill>
            <a:srgbClr val="C4880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468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English-Optimized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English-language sources; limited non-English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7680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46120"/>
            <a:ext cx="54864" cy="713232"/>
          </a:xfrm>
          <a:prstGeom prst="rect">
            <a:avLst/>
          </a:prstGeom>
          <a:solidFill>
            <a:srgbClr val="C488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37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Fact-Checker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source quality, not factual accuracy — does not replace fact-checking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7680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114800"/>
            <a:ext cx="54864" cy="713232"/>
          </a:xfrm>
          <a:prstGeom prst="rect">
            <a:avLst/>
          </a:prstGeom>
          <a:solidFill>
            <a:srgbClr val="C488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480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editorial judgment, subject-matter expertise, or relevance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1417320"/>
          </a:xfrm>
          <a:prstGeom prst="rect">
            <a:avLst/>
          </a:prstGeom>
          <a:solidFill>
            <a:srgbClr val="2D3E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human expert judgment with 50–100 sources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657600" cy="1417320"/>
          </a:xfrm>
          <a:prstGeom prst="rect">
            <a:avLst/>
          </a:prstGeom>
          <a:solidFill>
            <a:srgbClr val="2D3E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researcher overrides to continuously improve accuracy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971800"/>
            <a:ext cx="3657600" cy="1417320"/>
          </a:xfrm>
          <a:prstGeom prst="rect">
            <a:avLst/>
          </a:prstGeom>
          <a:solidFill>
            <a:srgbClr val="2D3E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0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0584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into existing HRF research workflows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3657600" cy="1417320"/>
          </a:xfrm>
          <a:prstGeom prst="rect">
            <a:avLst/>
          </a:prstGeom>
          <a:solidFill>
            <a:srgbClr val="2D3E5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2920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multi-language support and additional source types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620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Rights Foundation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Evaluator Overview</dc:title>
  <dc:subject>PptxGenJS Presentation</dc:subject>
  <dc:creator>Human Rights Foundation</dc:creator>
  <cp:lastModifiedBy>Human Rights Foundation</cp:lastModifiedBy>
  <cp:revision>1</cp:revision>
  <dcterms:created xsi:type="dcterms:W3CDTF">2026-03-13T19:40:48Z</dcterms:created>
  <dcterms:modified xsi:type="dcterms:W3CDTF">2026-03-13T19:40:48Z</dcterms:modified>
</cp:coreProperties>
</file>